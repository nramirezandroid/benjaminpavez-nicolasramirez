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C9A5A-755F-4F04-9784-DFC82793D7CF}" v="88" dt="2026-05-25T04:09:02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770EF-2CE8-40F5-B3F2-EE7DFD49B7A0}" type="datetimeFigureOut"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EFB72-0008-4CB0-8A6D-7F4D5F1240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18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0"/>
            <a:ext cx="109728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23774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0F0"/>
                </a:solidFill>
              </a:rPr>
              <a:t>VIDEOJUEGO 2D — PIXEL 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DUNGEON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RUNNER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B9BB0"/>
                </a:solidFill>
              </a:rPr>
              <a:t>Un </a:t>
            </a:r>
            <a:r>
              <a:rPr lang="en-US" sz="1300" i="1" dirty="0" err="1">
                <a:solidFill>
                  <a:srgbClr val="9B9BB0"/>
                </a:solidFill>
              </a:rPr>
              <a:t>plataformero</a:t>
            </a:r>
            <a:r>
              <a:rPr lang="en-US" sz="1300" i="1" dirty="0">
                <a:solidFill>
                  <a:srgbClr val="9B9BB0"/>
                </a:solidFill>
              </a:rPr>
              <a:t> 2D </a:t>
            </a:r>
            <a:r>
              <a:rPr lang="en-US" sz="1300" i="1" dirty="0" err="1">
                <a:solidFill>
                  <a:srgbClr val="9B9BB0"/>
                </a:solidFill>
              </a:rPr>
              <a:t>contrarreloj</a:t>
            </a:r>
            <a:r>
              <a:rPr lang="en-US" sz="1300" i="1" dirty="0">
                <a:solidFill>
                  <a:srgbClr val="9B9BB0"/>
                </a:solidFill>
              </a:rPr>
              <a:t> con </a:t>
            </a:r>
            <a:r>
              <a:rPr lang="en-US" sz="1300" i="1" dirty="0" err="1">
                <a:solidFill>
                  <a:srgbClr val="9B9BB0"/>
                </a:solidFill>
              </a:rPr>
              <a:t>combate</a:t>
            </a:r>
            <a:r>
              <a:rPr lang="en-US" sz="1300" i="1" dirty="0">
                <a:solidFill>
                  <a:srgbClr val="9B9BB0"/>
                </a:solidFill>
              </a:rPr>
              <a:t>, IA de </a:t>
            </a:r>
            <a:r>
              <a:rPr lang="en-US" sz="1300" i="1" dirty="0" err="1">
                <a:solidFill>
                  <a:srgbClr val="9B9BB0"/>
                </a:solidFill>
              </a:rPr>
              <a:t>enemigos</a:t>
            </a:r>
            <a:r>
              <a:rPr lang="en-US" sz="1300" i="1" dirty="0">
                <a:solidFill>
                  <a:srgbClr val="9B9BB0"/>
                </a:solidFill>
              </a:rPr>
              <a:t> y modo </a:t>
            </a:r>
            <a:r>
              <a:rPr lang="en-US" sz="1300" i="1" dirty="0" err="1">
                <a:solidFill>
                  <a:srgbClr val="9B9BB0"/>
                </a:solidFill>
              </a:rPr>
              <a:t>multijugador</a:t>
            </a:r>
            <a:r>
              <a:rPr lang="en-US" sz="1300" i="1" dirty="0">
                <a:solidFill>
                  <a:srgbClr val="9B9BB0"/>
                </a:solidFill>
              </a:rPr>
              <a:t> </a:t>
            </a:r>
            <a:r>
              <a:rPr lang="en-US" sz="1300" i="1">
                <a:solidFill>
                  <a:srgbClr val="9B9BB0"/>
                </a:solidFill>
              </a:rPr>
              <a:t>cooperativo</a:t>
            </a:r>
            <a:r>
              <a:rPr lang="en-US" sz="1300" i="1" dirty="0">
                <a:solidFill>
                  <a:srgbClr val="9B9BB0"/>
                </a:solidFill>
              </a:rPr>
              <a:t>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206240"/>
            <a:ext cx="4114800" cy="274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0F0"/>
                </a:solidFill>
              </a:rPr>
              <a:t>Benjamín Pavez  ·  Nicolás Ramírez</a:t>
            </a:r>
            <a:r>
              <a:rPr lang="en-US" sz="1100" dirty="0">
                <a:solidFill>
                  <a:srgbClr val="9B9BB0"/>
                </a:solidFill>
              </a:rPr>
              <a:t>        |        </a:t>
            </a:r>
            <a:r>
              <a:rPr lang="en-US" sz="1100" dirty="0" err="1">
                <a:solidFill>
                  <a:srgbClr val="9B9BB0"/>
                </a:solidFill>
              </a:rPr>
              <a:t>Programación</a:t>
            </a:r>
            <a:r>
              <a:rPr lang="en-US" sz="1100" dirty="0">
                <a:solidFill>
                  <a:srgbClr val="9B9BB0"/>
                </a:solidFill>
              </a:rPr>
              <a:t> de </a:t>
            </a:r>
            <a:r>
              <a:rPr lang="en-US" sz="1100" dirty="0" err="1">
                <a:solidFill>
                  <a:srgbClr val="9B9BB0"/>
                </a:solidFill>
              </a:rPr>
              <a:t>Videojuegos</a:t>
            </a:r>
            <a:r>
              <a:rPr lang="en-US" sz="1100" dirty="0">
                <a:solidFill>
                  <a:srgbClr val="9B9BB0"/>
                </a:solidFill>
              </a:rPr>
              <a:t>   ·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CONCEPTO DEL JUEGO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691640"/>
          </a:xfrm>
          <a:prstGeom prst="rect">
            <a:avLst/>
          </a:prstGeom>
          <a:solidFill>
            <a:srgbClr val="161630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8138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0F0F0"/>
                </a:solidFill>
              </a:rPr>
              <a:t>Un plataformero 2D de acción y velocidad donde el jugador debe llegar a la meta en el menor tiempo posible, superando enemigos y obstáculos. Brillará en su modo multijugador asimétrico: un jugador corre mientras el otro coloca trampas y controla enemigos para detenerlo.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2697480" cy="1600200"/>
          </a:xfrm>
          <a:prstGeom prst="rect">
            <a:avLst/>
          </a:prstGeom>
          <a:solidFill>
            <a:srgbClr val="1A1A35"/>
          </a:solidFill>
          <a:ln w="1905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834640"/>
            <a:ext cx="26974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34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0F0"/>
                </a:solidFill>
              </a:rPr>
              <a:t>Género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12724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Plataformero 2D de Acción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2834640"/>
            <a:ext cx="2697480" cy="1600200"/>
          </a:xfrm>
          <a:prstGeom prst="rect">
            <a:avLst/>
          </a:prstGeom>
          <a:solidFill>
            <a:srgbClr val="1A1A35"/>
          </a:solidFill>
          <a:ln w="1905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834640"/>
            <a:ext cx="269748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834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0F0"/>
                </a:solidFill>
              </a:rPr>
              <a:t>Plataforma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312724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PC — Windows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697480" cy="1600200"/>
          </a:xfrm>
          <a:prstGeom prst="rect">
            <a:avLst/>
          </a:prstGeom>
          <a:solidFill>
            <a:srgbClr val="1A1A35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834640"/>
            <a:ext cx="269748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834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0F0"/>
                </a:solidFill>
              </a:rPr>
              <a:t>Motor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312724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Unity  ·  Pixel Art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B9BB0"/>
                </a:solidFill>
              </a:rPr>
              <a:t>v1.00  Primer nivel · enemigo · HUD · menú pausa · música · animaciones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B9BB0"/>
                </a:solidFill>
              </a:rPr>
              <a:t>v2.00  Sonido · menú principal · 2 nuevos enemigos · nuevo nivel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MODOS DE JUEGO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ect">
            <a:avLst/>
          </a:prstGeom>
          <a:solidFill>
            <a:srgbClr val="1A1A35"/>
          </a:solidFill>
          <a:ln w="2540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1A"/>
                </a:solidFill>
              </a:rPr>
              <a:t>MODO INDIVIDUAL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› El jugador recorre el nivel en solitario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› Objetivo: llegar a la meta lo más rápido posible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054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› Cronómetro acumulativo con penalizaciones y recompensas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809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› Sistema de guardado entre sesiones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› Respawn automático al morir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9C12"/>
                </a:solidFill>
              </a:rPr>
              <a:t>ACTUALMENTE IMPLEMENTADO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1A1A35"/>
          </a:solidFill>
          <a:ln w="25400">
            <a:solidFill>
              <a:srgbClr val="8E44A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05840"/>
            <a:ext cx="39319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F0F0"/>
                </a:solidFill>
              </a:rPr>
              <a:t>MODO MULTIJUGADOR COOPERATIVO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B9BB0"/>
                </a:solidFill>
              </a:rPr>
              <a:t>› Jugador 1 (Runner): corre y llega a la meta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029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B9BB0"/>
                </a:solidFill>
              </a:rPr>
              <a:t>› </a:t>
            </a:r>
            <a:r>
              <a:rPr lang="en-US" sz="1200" i="1" dirty="0" err="1">
                <a:solidFill>
                  <a:srgbClr val="9B9BB0"/>
                </a:solidFill>
              </a:rPr>
              <a:t>Jugador</a:t>
            </a:r>
            <a:r>
              <a:rPr lang="en-US" sz="1200" i="1" dirty="0">
                <a:solidFill>
                  <a:srgbClr val="9B9BB0"/>
                </a:solidFill>
              </a:rPr>
              <a:t> 2 (</a:t>
            </a:r>
            <a:r>
              <a:rPr lang="en-US" sz="1200" i="1" dirty="0" err="1">
                <a:solidFill>
                  <a:srgbClr val="9B9BB0"/>
                </a:solidFill>
              </a:rPr>
              <a:t>Apoyo</a:t>
            </a:r>
            <a:r>
              <a:rPr lang="en-US" sz="1200" i="1" dirty="0">
                <a:solidFill>
                  <a:srgbClr val="9B9BB0"/>
                </a:solidFill>
              </a:rPr>
              <a:t>): </a:t>
            </a:r>
            <a:r>
              <a:rPr lang="en-US" sz="1200" i="1" dirty="0" err="1">
                <a:solidFill>
                  <a:srgbClr val="9B9BB0"/>
                </a:solidFill>
              </a:rPr>
              <a:t>coloca</a:t>
            </a:r>
            <a:r>
              <a:rPr lang="en-US" sz="1200" i="1" dirty="0">
                <a:solidFill>
                  <a:srgbClr val="9B9BB0"/>
                </a:solidFill>
              </a:rPr>
              <a:t> </a:t>
            </a:r>
            <a:r>
              <a:rPr lang="en-US" sz="1200" i="1" dirty="0" err="1">
                <a:solidFill>
                  <a:srgbClr val="9B9BB0"/>
                </a:solidFill>
              </a:rPr>
              <a:t>estructurasa</a:t>
            </a:r>
            <a:r>
              <a:rPr lang="en-US" sz="1200" i="1" dirty="0">
                <a:solidFill>
                  <a:srgbClr val="9B9BB0"/>
                </a:solidFill>
              </a:rPr>
              <a:t>/</a:t>
            </a:r>
            <a:r>
              <a:rPr lang="en-US" sz="1200" i="1" dirty="0" err="1">
                <a:solidFill>
                  <a:srgbClr val="9B9BB0"/>
                </a:solidFill>
              </a:rPr>
              <a:t>mejoras</a:t>
            </a:r>
            <a:r>
              <a:rPr lang="en-US" sz="1200" i="1" dirty="0">
                <a:solidFill>
                  <a:srgbClr val="9B9BB0"/>
                </a:solidFill>
              </a:rPr>
              <a:t> y </a:t>
            </a:r>
            <a:r>
              <a:rPr lang="en-US" sz="1200" i="1" dirty="0" err="1">
                <a:solidFill>
                  <a:srgbClr val="9B9BB0"/>
                </a:solidFill>
              </a:rPr>
              <a:t>controla</a:t>
            </a:r>
            <a:r>
              <a:rPr lang="en-US" sz="1200" i="1" dirty="0">
                <a:solidFill>
                  <a:srgbClr val="9B9BB0"/>
                </a:solidFill>
              </a:rPr>
              <a:t> </a:t>
            </a:r>
            <a:r>
              <a:rPr lang="en-US" sz="1200" i="1" dirty="0" err="1">
                <a:solidFill>
                  <a:srgbClr val="9B9BB0"/>
                </a:solidFill>
              </a:rPr>
              <a:t>enemigos</a:t>
            </a:r>
            <a:endParaRPr lang="en-US" sz="1200" dirty="0" err="1"/>
          </a:p>
        </p:txBody>
      </p:sp>
      <p:sp>
        <p:nvSpPr>
          <p:cNvPr id="20" name="Text 18"/>
          <p:cNvSpPr/>
          <p:nvPr/>
        </p:nvSpPr>
        <p:spPr>
          <a:xfrm>
            <a:off x="5029200" y="25713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B9BB0"/>
                </a:solidFill>
              </a:rPr>
              <a:t>› Modalidad Online (en planificación)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9319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E44AD"/>
                </a:solidFill>
              </a:rPr>
              <a:t>EN PLANIFICACIÓN / DESARROLLO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MECÁNICAS DEL JUGADOR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88920" cy="1719072"/>
          </a:xfrm>
          <a:prstGeom prst="rect">
            <a:avLst/>
          </a:prstGeom>
          <a:solidFill>
            <a:srgbClr val="1A1A35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24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0F0"/>
                </a:solidFill>
              </a:rPr>
              <a:t>Movimiento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27048"/>
            <a:ext cx="2423160" cy="274320"/>
          </a:xfrm>
          <a:prstGeom prst="rect">
            <a:avLst/>
          </a:prstGeom>
          <a:solidFill>
            <a:srgbClr val="1ABC9C">
              <a:alpha val="25000"/>
            </a:srgbClr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BC9C"/>
                </a:solidFill>
              </a:rPr>
              <a:t>A / 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B9BB0"/>
                </a:solidFill>
              </a:rPr>
              <a:t>Caminar + sprint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788920" cy="1719072"/>
          </a:xfrm>
          <a:prstGeom prst="rect">
            <a:avLst/>
          </a:prstGeom>
          <a:solidFill>
            <a:srgbClr val="1A1A35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91440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124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0F0"/>
                </a:solidFill>
              </a:rPr>
              <a:t>Salto Doble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1527048"/>
            <a:ext cx="2423160" cy="274320"/>
          </a:xfrm>
          <a:prstGeom prst="rect">
            <a:avLst/>
          </a:prstGeom>
          <a:solidFill>
            <a:srgbClr val="1ABC9C">
              <a:alpha val="25000"/>
            </a:srgbClr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BC9C"/>
                </a:solidFill>
              </a:rPr>
              <a:t>W / Espacio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1938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B9BB0"/>
                </a:solidFill>
              </a:rPr>
              <a:t>2 saltos, hold para altura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788920" cy="1719072"/>
          </a:xfrm>
          <a:prstGeom prst="rect">
            <a:avLst/>
          </a:prstGeom>
          <a:solidFill>
            <a:srgbClr val="1A1A35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60120"/>
            <a:ext cx="91440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124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0F0"/>
                </a:solidFill>
              </a:rPr>
              <a:t>Wall Jump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527048"/>
            <a:ext cx="2423160" cy="274320"/>
          </a:xfrm>
          <a:prstGeom prst="rect">
            <a:avLst/>
          </a:prstGeom>
          <a:solidFill>
            <a:srgbClr val="1ABC9C">
              <a:alpha val="25000"/>
            </a:srgbClr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BC9C"/>
                </a:solidFill>
              </a:rPr>
              <a:t>W contra pared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1938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B9BB0"/>
                </a:solidFill>
              </a:rPr>
              <a:t>Rebote en superficies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788920" cy="1719072"/>
          </a:xfrm>
          <a:prstGeom prst="rect">
            <a:avLst/>
          </a:prstGeom>
          <a:solidFill>
            <a:srgbClr val="1A1A35"/>
          </a:solidFill>
          <a:ln w="1905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34640"/>
            <a:ext cx="91440" cy="17190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999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0F0"/>
                </a:solidFill>
              </a:rPr>
              <a:t>Agacharse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401568"/>
            <a:ext cx="2423160" cy="274320"/>
          </a:xfrm>
          <a:prstGeom prst="rect">
            <a:avLst/>
          </a:prstGeom>
          <a:solidFill>
            <a:srgbClr val="F39C12">
              <a:alpha val="25000"/>
            </a:srgbClr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</a:rPr>
              <a:t>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8130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B9BB0"/>
                </a:solidFill>
              </a:rPr>
              <a:t>Collider reducido al 55%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834640"/>
            <a:ext cx="2788920" cy="1719072"/>
          </a:xfrm>
          <a:prstGeom prst="rect">
            <a:avLst/>
          </a:prstGeom>
          <a:solidFill>
            <a:srgbClr val="1A1A35"/>
          </a:solidFill>
          <a:ln w="1905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834640"/>
            <a:ext cx="91440" cy="17190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999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0F0"/>
                </a:solidFill>
              </a:rPr>
              <a:t>Dash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74720" y="3401568"/>
            <a:ext cx="2423160" cy="274320"/>
          </a:xfrm>
          <a:prstGeom prst="rect">
            <a:avLst/>
          </a:prstGeom>
          <a:solidFill>
            <a:srgbClr val="F39C12">
              <a:alpha val="25000"/>
            </a:srgbClr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</a:rPr>
              <a:t>Shift / Clic 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74720" y="38130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B9BB0"/>
                </a:solidFill>
              </a:rPr>
              <a:t>3 cargas · cooldown 1.5 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834640"/>
            <a:ext cx="2788920" cy="1719072"/>
          </a:xfrm>
          <a:prstGeom prst="rect">
            <a:avLst/>
          </a:prstGeom>
          <a:solidFill>
            <a:srgbClr val="1A1A35"/>
          </a:solidFill>
          <a:ln w="1905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834640"/>
            <a:ext cx="91440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999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0F0"/>
                </a:solidFill>
              </a:rPr>
              <a:t>Ataque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3401568"/>
            <a:ext cx="2423160" cy="274320"/>
          </a:xfrm>
          <a:prstGeom prst="rect">
            <a:avLst/>
          </a:prstGeom>
          <a:solidFill>
            <a:srgbClr val="C0392B">
              <a:alpha val="25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</a:rPr>
              <a:t>J / Clic 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38130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B9BB0"/>
                </a:solidFill>
              </a:rPr>
              <a:t>OverlapCircle · cooldown 0.5 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INTELIGENCIA ARTIFICIAL — ENEMIGOS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88920" cy="3913632"/>
          </a:xfrm>
          <a:prstGeom prst="rect">
            <a:avLst/>
          </a:prstGeom>
          <a:solidFill>
            <a:srgbClr val="1A1A35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8892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F0F0"/>
                </a:solidFill>
              </a:rPr>
              <a:t>Seguidor (EnemyFollow)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426464"/>
            <a:ext cx="804672" cy="658368"/>
          </a:xfrm>
          <a:prstGeom prst="rect">
            <a:avLst/>
          </a:prstGeom>
          <a:solidFill>
            <a:srgbClr val="1ABC9C">
              <a:alpha val="18000"/>
            </a:srgbClr>
          </a:solidFill>
          <a:ln w="889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BC9C"/>
                </a:solidFill>
              </a:rPr>
              <a:t>HP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100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0160" y="1426464"/>
            <a:ext cx="804672" cy="658368"/>
          </a:xfrm>
          <a:prstGeom prst="rect">
            <a:avLst/>
          </a:prstGeom>
          <a:solidFill>
            <a:srgbClr val="1ABC9C">
              <a:alpha val="18000"/>
            </a:srgbClr>
          </a:solidFill>
          <a:ln w="889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BC9C"/>
                </a:solidFill>
              </a:rPr>
              <a:t>Veloc.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3 u/s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1426464"/>
            <a:ext cx="804672" cy="658368"/>
          </a:xfrm>
          <a:prstGeom prst="rect">
            <a:avLst/>
          </a:prstGeom>
          <a:solidFill>
            <a:srgbClr val="1ABC9C">
              <a:alpha val="18000"/>
            </a:srgbClr>
          </a:solidFill>
          <a:ln w="889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BC9C"/>
                </a:solidFill>
              </a:rPr>
              <a:t>Daño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48840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10 contacto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Detecta al jugador en radio de 7 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Persecución continua con detección de bordes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0723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Daño por colisión directa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4930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Knockback + stun al recibir daño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64408" y="914400"/>
            <a:ext cx="2788920" cy="3913632"/>
          </a:xfrm>
          <a:prstGeom prst="rect">
            <a:avLst/>
          </a:prstGeom>
          <a:solidFill>
            <a:srgbClr val="1A1A35"/>
          </a:solidFill>
          <a:ln w="1905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914400"/>
            <a:ext cx="278892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0D1A"/>
                </a:solidFill>
              </a:rPr>
              <a:t>Caballero (LongSwordKnight)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1426464"/>
            <a:ext cx="804672" cy="658368"/>
          </a:xfrm>
          <a:prstGeom prst="rect">
            <a:avLst/>
          </a:prstGeom>
          <a:solidFill>
            <a:srgbClr val="F39C12">
              <a:alpha val="18000"/>
            </a:srgbClr>
          </a:solidFill>
          <a:ln w="889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</a:rPr>
              <a:t>HP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55848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200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24528" y="1426464"/>
            <a:ext cx="804672" cy="658368"/>
          </a:xfrm>
          <a:prstGeom prst="rect">
            <a:avLst/>
          </a:prstGeom>
          <a:solidFill>
            <a:srgbClr val="F39C12">
              <a:alpha val="18000"/>
            </a:srgbClr>
          </a:solidFill>
          <a:ln w="889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24528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</a:rPr>
              <a:t>Veloc.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24528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1.6 u/s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93208" y="1426464"/>
            <a:ext cx="804672" cy="658368"/>
          </a:xfrm>
          <a:prstGeom prst="rect">
            <a:avLst/>
          </a:prstGeom>
          <a:solidFill>
            <a:srgbClr val="F39C12">
              <a:alpha val="18000"/>
            </a:srgbClr>
          </a:solidFill>
          <a:ln w="889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</a:rPr>
              <a:t>Daño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93208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30 espadón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01568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Radio de detección: 7 u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01568" y="2651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Persigue y ataca en área (1.6 u de rango)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01568" y="30723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Anticip. 0.5 s → golpe → recuperación 0.5 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01568" y="34930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Cooldown de ataque: 2.5 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08776" y="914400"/>
            <a:ext cx="2788920" cy="3913632"/>
          </a:xfrm>
          <a:prstGeom prst="rect">
            <a:avLst/>
          </a:prstGeom>
          <a:solidFill>
            <a:srgbClr val="1A1A35"/>
          </a:solidFill>
          <a:ln w="19050">
            <a:solidFill>
              <a:srgbClr val="8E44A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08776" y="914400"/>
            <a:ext cx="278892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F0F0"/>
                </a:solidFill>
              </a:rPr>
              <a:t>Ángel Volador (FlyingShooter)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0216" y="1426464"/>
            <a:ext cx="804672" cy="658368"/>
          </a:xfrm>
          <a:prstGeom prst="rect">
            <a:avLst/>
          </a:prstGeom>
          <a:solidFill>
            <a:srgbClr val="8E44AD">
              <a:alpha val="18000"/>
            </a:srgbClr>
          </a:solidFill>
          <a:ln w="8890">
            <a:solidFill>
              <a:srgbClr val="8E44A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0216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E44AD"/>
                </a:solidFill>
              </a:rPr>
              <a:t>HP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00216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30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68896" y="1426464"/>
            <a:ext cx="804672" cy="658368"/>
          </a:xfrm>
          <a:prstGeom prst="rect">
            <a:avLst/>
          </a:prstGeom>
          <a:solidFill>
            <a:srgbClr val="8E44AD">
              <a:alpha val="18000"/>
            </a:srgbClr>
          </a:solidFill>
          <a:ln w="8890">
            <a:solidFill>
              <a:srgbClr val="8E44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68896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E44AD"/>
                </a:solidFill>
              </a:rPr>
              <a:t>Veloc.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68896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4 u/s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37576" y="1426464"/>
            <a:ext cx="804672" cy="658368"/>
          </a:xfrm>
          <a:prstGeom prst="rect">
            <a:avLst/>
          </a:prstGeom>
          <a:solidFill>
            <a:srgbClr val="8E44AD">
              <a:alpha val="18000"/>
            </a:srgbClr>
          </a:solidFill>
          <a:ln w="8890">
            <a:solidFill>
              <a:srgbClr val="8E44A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37576" y="144475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E44AD"/>
                </a:solidFill>
              </a:rPr>
              <a:t>Daño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037576" y="16733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0F0"/>
                </a:solidFill>
              </a:rPr>
              <a:t>15 proyectil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45936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Vuelo libre con oscilación sinusoidal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45936" y="2651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Mantiene distancia de 5 u del jugador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45936" y="30723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Dispara proyectil cada 2 s en línea recta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345936" y="34930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</a:rPr>
              <a:t>› Al morir: gravityScale → 1 (cae físicamente)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TÉCNICA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810512"/>
          </a:xfrm>
          <a:prstGeom prst="rect">
            <a:avLst/>
          </a:prstGeom>
          <a:solidFill>
            <a:srgbClr val="1A1A35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32918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</a:rPr>
              <a:t>Jugador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62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PlayerControllerComplete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42032" y="1362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PlayerSoundController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PlayerEffectsController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2032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DestroyVFX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810512"/>
          </a:xfrm>
          <a:prstGeom prst="rect">
            <a:avLst/>
          </a:prstGeom>
          <a:solidFill>
            <a:srgbClr val="1A1A35"/>
          </a:solidFill>
          <a:ln w="1905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2062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96012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</a:rPr>
              <a:t>Enemigos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62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EnemyBase (abstracta)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76872" y="1362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EnemyFollow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EnemyLongSwordKnight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76872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EnemyFlyingShooter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EnemyProjectile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4206240" cy="1810512"/>
          </a:xfrm>
          <a:prstGeom prst="rect">
            <a:avLst/>
          </a:prstGeom>
          <a:solidFill>
            <a:srgbClr val="1A1A35"/>
          </a:solidFill>
          <a:ln w="1905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4206240" cy="32918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2608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0D1A"/>
                </a:solidFill>
              </a:rPr>
              <a:t>Managers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GameManager (Singleton)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2032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SaveSystem (Singleton)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75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LoadingScreenManager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42032" y="3675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OptionsManager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06240" cy="1810512"/>
          </a:xfrm>
          <a:prstGeom prst="rect">
            <a:avLst/>
          </a:prstGeom>
          <a:solidFill>
            <a:srgbClr val="1A1A35"/>
          </a:solidFill>
          <a:ln w="19050">
            <a:solidFill>
              <a:srgbClr val="8E44A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26080"/>
            <a:ext cx="420624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92608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</a:rPr>
              <a:t>UI y Entorno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MainMenuManager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76872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Dialogue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675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CameraFollow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76872" y="3675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DeathZone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LevelGoal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76872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</a:rPr>
              <a:t>· Parallax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DE NIVELES — TILEMAP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977640"/>
          </a:xfrm>
          <a:prstGeom prst="rect">
            <a:avLst/>
          </a:prstGeom>
          <a:solidFill>
            <a:srgbClr val="1A1A35"/>
          </a:solidFill>
          <a:ln w="1905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6052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0D1A"/>
                </a:solidFill>
              </a:rPr>
              <a:t>CAPAS POR NIVEL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9144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441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</a:rPr>
              <a:t>Suelo / Plataformas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B9BB0"/>
                </a:solidFill>
              </a:rPr>
              <a:t>Tilemap Collider 2D + Composite Collider. Física optimizada para Rigidbody.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41448"/>
            <a:ext cx="9144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59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</a:rPr>
              <a:t>Decoración / Fondo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761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B9BB0"/>
                </a:solidFill>
              </a:rPr>
              <a:t>Capa visual sin colisión. Adornos, paredes y detalles del escenario.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557016"/>
            <a:ext cx="9144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5753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</a:rPr>
              <a:t>Peligros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8770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B9BB0"/>
                </a:solidFill>
              </a:rPr>
              <a:t>Tiles con tag "Damage". Antorchas y trampas que dañan por contacto.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60520" cy="3977640"/>
          </a:xfrm>
          <a:prstGeom prst="rect">
            <a:avLst/>
          </a:prstGeom>
          <a:solidFill>
            <a:srgbClr val="1A1A35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144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0D1A"/>
                </a:solidFill>
              </a:rPr>
              <a:t>HERRAMIENTAS UNITY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9144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BC9C"/>
                </a:solidFill>
              </a:rPr>
              <a:t>Tile Palette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3752" y="16093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B9BB0"/>
                </a:solidFill>
              </a:rPr>
              <a:t>Pintar, borrar y rellenar tiles. Modos Rect (áreas) y Single (detalles).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67128"/>
            <a:ext cx="9144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185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BC9C"/>
                </a:solidFill>
              </a:rPr>
              <a:t>Rule Tile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24505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B9BB0"/>
                </a:solidFill>
              </a:rPr>
              <a:t>Auto-selecciona sprite según vecinos. Transiciones naturales sin esfuerzo manual.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008376"/>
            <a:ext cx="9144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026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BC9C"/>
                </a:solidFill>
              </a:rPr>
              <a:t>Grid / Grid Layout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32918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B9BB0"/>
                </a:solidFill>
              </a:rPr>
              <a:t>Celdas de 1×1 unidad. Coherencia total con físicas y pixel art.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849624"/>
            <a:ext cx="9144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BC9C"/>
                </a:solidFill>
              </a:rPr>
              <a:t>Sprite Atlas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41330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B9BB0"/>
                </a:solidFill>
              </a:rPr>
              <a:t>Empaqueta tiles del mismo tema. Reduce draw calls y mejora rendimiento.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3886200"/>
          </a:xfrm>
          <a:prstGeom prst="rect">
            <a:avLst/>
          </a:prstGeom>
          <a:solidFill>
            <a:srgbClr val="1A1A35"/>
          </a:solidFill>
          <a:ln w="2540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5486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60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</a:rPr>
              <a:t>v1.00  </a:t>
            </a:r>
            <a:r>
              <a:rPr lang="en-US" sz="1100">
                <a:solidFill>
                  <a:srgbClr val="000000"/>
                </a:solidFill>
              </a:rPr>
              <a:t>20 Abril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137160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61848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Primer nivel completo con Tilemap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137160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0939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Un enemigo con IA de seguimiento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137160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56946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Animaciones completas del jugador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90672"/>
            <a:ext cx="137160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04495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HUD (vida, dash, tiempo)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137160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52044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Menú de pausa funcional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137160" cy="137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9959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Música de fondo y parallax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206240" cy="3886200"/>
          </a:xfrm>
          <a:prstGeom prst="rect">
            <a:avLst/>
          </a:prstGeom>
          <a:solidFill>
            <a:srgbClr val="1A1A35"/>
          </a:solidFill>
          <a:ln w="2540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420624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960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D0D1A"/>
                </a:solidFill>
              </a:rPr>
              <a:t>v2.00</a:t>
            </a:r>
            <a:r>
              <a:rPr lang="en-US" b="1" dirty="0">
                <a:solidFill>
                  <a:srgbClr val="0D0D1A"/>
                </a:solidFill>
              </a:rPr>
              <a:t>  </a:t>
            </a:r>
            <a:r>
              <a:rPr lang="en-US" sz="1100">
                <a:solidFill>
                  <a:srgbClr val="000000"/>
                </a:solidFill>
              </a:rPr>
              <a:t>18 Mayo 2026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37760" y="1664208"/>
            <a:ext cx="13716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5504" y="161848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Efectos de sonido (SFX completos)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139696"/>
            <a:ext cx="13716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20939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F0F0F0"/>
                </a:solidFill>
              </a:rPr>
              <a:t>Menú</a:t>
            </a:r>
            <a:r>
              <a:rPr lang="en-US" sz="1200" dirty="0">
                <a:solidFill>
                  <a:srgbClr val="F0F0F0"/>
                </a:solidFill>
              </a:rPr>
              <a:t> principal con </a:t>
            </a:r>
            <a:r>
              <a:rPr lang="en-US" sz="1200" dirty="0" err="1">
                <a:solidFill>
                  <a:srgbClr val="F0F0F0"/>
                </a:solidFill>
              </a:rPr>
              <a:t>guardado</a:t>
            </a:r>
            <a:r>
              <a:rPr lang="en-US" sz="1200" dirty="0">
                <a:solidFill>
                  <a:srgbClr val="F0F0F0"/>
                </a:solidFill>
              </a:rPr>
              <a:t> y un scoreboard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615184"/>
            <a:ext cx="13716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5504" y="256946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Pantalla de carga animada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090672"/>
            <a:ext cx="13716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304495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2 nuevos enemigos (Caballero + Ángel)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566160"/>
            <a:ext cx="13716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75504" y="352044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0F0F0"/>
                </a:solidFill>
              </a:rPr>
              <a:t>Nuevo </a:t>
            </a:r>
            <a:r>
              <a:rPr lang="en-US" sz="1200" dirty="0" err="1">
                <a:solidFill>
                  <a:srgbClr val="F0F0F0"/>
                </a:solidFill>
              </a:rPr>
              <a:t>nivel</a:t>
            </a:r>
            <a:r>
              <a:rPr lang="en-US" sz="1200" dirty="0">
                <a:solidFill>
                  <a:srgbClr val="F0F0F0"/>
                </a:solidFill>
              </a:rPr>
              <a:t> con jefe y </a:t>
            </a:r>
            <a:r>
              <a:rPr lang="en-US" sz="1200" dirty="0" err="1">
                <a:solidFill>
                  <a:srgbClr val="F0F0F0"/>
                </a:solidFill>
              </a:rPr>
              <a:t>minimapas</a:t>
            </a:r>
            <a:endParaRPr lang="en-US" sz="1200" dirty="0" err="1"/>
          </a:p>
        </p:txBody>
      </p:sp>
      <p:sp>
        <p:nvSpPr>
          <p:cNvPr id="32" name="Shape 30"/>
          <p:cNvSpPr/>
          <p:nvPr/>
        </p:nvSpPr>
        <p:spPr>
          <a:xfrm>
            <a:off x="4937760" y="4041648"/>
            <a:ext cx="13716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5504" y="39959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0F0"/>
                </a:solidFill>
              </a:rPr>
              <a:t>Sistema Save/Load entre sesiones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1691640"/>
          </a:xfrm>
          <a:prstGeom prst="rect">
            <a:avLst/>
          </a:prstGeom>
          <a:solidFill>
            <a:srgbClr val="1A1A35"/>
          </a:solidFill>
          <a:ln w="1905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09728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44168" y="1170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0F0F0"/>
                </a:solidFill>
              </a:rPr>
              <a:t>Multijugador</a:t>
            </a:r>
            <a:r>
              <a:rPr lang="en-US" sz="1300" b="1" dirty="0">
                <a:solidFill>
                  <a:srgbClr val="F0F0F0"/>
                </a:solidFill>
              </a:rPr>
              <a:t> </a:t>
            </a:r>
            <a:r>
              <a:rPr lang="en-US" sz="1300" b="1" dirty="0" err="1">
                <a:solidFill>
                  <a:srgbClr val="F0F0F0"/>
                </a:solidFill>
              </a:rPr>
              <a:t>Cooperativo</a:t>
            </a:r>
            <a:endParaRPr lang="en-US" sz="1300" dirty="0" err="1"/>
          </a:p>
        </p:txBody>
      </p:sp>
      <p:sp>
        <p:nvSpPr>
          <p:cNvPr id="8" name="Text 6"/>
          <p:cNvSpPr/>
          <p:nvPr/>
        </p:nvSpPr>
        <p:spPr>
          <a:xfrm>
            <a:off x="1344168" y="1554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 err="1">
                <a:solidFill>
                  <a:srgbClr val="9B9BB0"/>
                </a:solidFill>
              </a:rPr>
              <a:t>Implementar</a:t>
            </a:r>
            <a:r>
              <a:rPr lang="en-US" sz="1050" dirty="0">
                <a:solidFill>
                  <a:srgbClr val="9B9BB0"/>
                </a:solidFill>
              </a:rPr>
              <a:t> </a:t>
            </a:r>
            <a:r>
              <a:rPr lang="en-US" sz="1050" dirty="0" err="1">
                <a:solidFill>
                  <a:srgbClr val="9B9BB0"/>
                </a:solidFill>
              </a:rPr>
              <a:t>el</a:t>
            </a:r>
            <a:r>
              <a:rPr lang="en-US" sz="1050" dirty="0">
                <a:solidFill>
                  <a:srgbClr val="9B9BB0"/>
                </a:solidFill>
              </a:rPr>
              <a:t> modo </a:t>
            </a:r>
            <a:r>
              <a:rPr lang="en-US" sz="1050" dirty="0" err="1">
                <a:solidFill>
                  <a:srgbClr val="9B9BB0"/>
                </a:solidFill>
              </a:rPr>
              <a:t>Cooperativo</a:t>
            </a:r>
            <a:r>
              <a:rPr lang="en-US" sz="1050" dirty="0">
                <a:solidFill>
                  <a:srgbClr val="9B9BB0"/>
                </a:solidFill>
              </a:rPr>
              <a:t> con </a:t>
            </a:r>
            <a:r>
              <a:rPr lang="en-US" sz="1050" dirty="0" err="1">
                <a:solidFill>
                  <a:srgbClr val="9B9BB0"/>
                </a:solidFill>
              </a:rPr>
              <a:t>colocación</a:t>
            </a:r>
            <a:r>
              <a:rPr lang="en-US" sz="1050" dirty="0">
                <a:solidFill>
                  <a:srgbClr val="9B9BB0"/>
                </a:solidFill>
              </a:rPr>
              <a:t> de </a:t>
            </a:r>
            <a:r>
              <a:rPr lang="en-US" sz="1050" dirty="0" err="1">
                <a:solidFill>
                  <a:srgbClr val="9B9BB0"/>
                </a:solidFill>
              </a:rPr>
              <a:t>estructuras</a:t>
            </a:r>
            <a:r>
              <a:rPr lang="en-US" sz="1050" dirty="0">
                <a:solidFill>
                  <a:srgbClr val="9B9BB0"/>
                </a:solidFill>
              </a:rPr>
              <a:t>/</a:t>
            </a:r>
            <a:r>
              <a:rPr lang="en-US" sz="1050" dirty="0" err="1">
                <a:solidFill>
                  <a:srgbClr val="9B9BB0"/>
                </a:solidFill>
              </a:rPr>
              <a:t>mejoras</a:t>
            </a:r>
            <a:r>
              <a:rPr lang="en-US" sz="1050" dirty="0">
                <a:solidFill>
                  <a:srgbClr val="9B9BB0"/>
                </a:solidFill>
              </a:rPr>
              <a:t> y control de </a:t>
            </a:r>
            <a:r>
              <a:rPr lang="en-US" sz="1050" dirty="0" err="1">
                <a:solidFill>
                  <a:srgbClr val="9B9BB0"/>
                </a:solidFill>
              </a:rPr>
              <a:t>enemigos</a:t>
            </a:r>
            <a:r>
              <a:rPr lang="en-US" sz="1050" dirty="0">
                <a:solidFill>
                  <a:srgbClr val="9B9BB0"/>
                </a:solidFill>
              </a:rPr>
              <a:t> online.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691640"/>
          </a:xfrm>
          <a:prstGeom prst="rect">
            <a:avLst/>
          </a:prstGeom>
          <a:solidFill>
            <a:srgbClr val="1A1A35"/>
          </a:solidFill>
          <a:ln w="1905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09728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779008" y="1170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</a:rPr>
              <a:t>Más Niveles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79008" y="1554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B9BB0"/>
                </a:solidFill>
              </a:rPr>
              <a:t>Diseñar niveles adicionales con mayor complejidad, nuevas mecánicas de plataformas y jefes únicos.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206240" cy="1691640"/>
          </a:xfrm>
          <a:prstGeom prst="rect">
            <a:avLst/>
          </a:prstGeom>
          <a:solidFill>
            <a:srgbClr val="1A1A35"/>
          </a:solidFill>
          <a:ln w="19050">
            <a:solidFill>
              <a:srgbClr val="1ABC9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01752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344168" y="3090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</a:rPr>
              <a:t>Sistema de Power-Ups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3474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B9BB0"/>
                </a:solidFill>
              </a:rPr>
              <a:t>Añadir objetos recogibles que modifiquen temporalmente las habilidades del jugador.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206240" cy="1691640"/>
          </a:xfrm>
          <a:prstGeom prst="rect">
            <a:avLst/>
          </a:prstGeom>
          <a:solidFill>
            <a:srgbClr val="1A1A35"/>
          </a:solidFill>
          <a:ln w="19050">
            <a:solidFill>
              <a:srgbClr val="8E44A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301752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5779008" y="3090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</a:rPr>
              <a:t>Pulido Visual y de Audio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79008" y="3474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B9BB0"/>
                </a:solidFill>
              </a:rPr>
              <a:t>Más animaciones, partículas de impacto, efectos de cámara y banda sonora expandida.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736592"/>
            <a:ext cx="850392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B0"/>
                </a:solidFill>
              </a:rPr>
              <a:t>Benjamín Pavez  ·  Nicolás Ramírez  ·  </a:t>
            </a:r>
            <a:r>
              <a:rPr lang="en-US" sz="900" dirty="0" err="1">
                <a:solidFill>
                  <a:srgbClr val="9B9BB0"/>
                </a:solidFill>
              </a:rPr>
              <a:t>Programación</a:t>
            </a:r>
            <a:r>
              <a:rPr lang="en-US" sz="900" dirty="0">
                <a:solidFill>
                  <a:srgbClr val="9B9BB0"/>
                </a:solidFill>
              </a:rPr>
              <a:t> de </a:t>
            </a:r>
            <a:r>
              <a:rPr lang="en-US" sz="900" dirty="0" err="1">
                <a:solidFill>
                  <a:srgbClr val="9B9BB0"/>
                </a:solidFill>
              </a:rPr>
              <a:t>Videojuegos</a:t>
            </a:r>
            <a:r>
              <a:rPr lang="en-US" sz="900" dirty="0">
                <a:solidFill>
                  <a:srgbClr val="9B9BB0"/>
                </a:solidFill>
              </a:rPr>
              <a:t>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Videojuego</dc:title>
  <dc:subject>PptxGenJS Presentation</dc:subject>
  <dc:creator>Benjamín Pavez / Nicolás Ramírez</dc:creator>
  <cp:lastModifiedBy>Benjamín Pavez / Nicolás Ramírez</cp:lastModifiedBy>
  <cp:revision>22</cp:revision>
  <dcterms:created xsi:type="dcterms:W3CDTF">2026-05-18T06:05:09Z</dcterms:created>
  <dcterms:modified xsi:type="dcterms:W3CDTF">2026-05-25T04:35:11Z</dcterms:modified>
</cp:coreProperties>
</file>